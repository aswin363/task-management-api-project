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1"/>
  </p:notesMasterIdLst>
  <p:handoutMasterIdLst>
    <p:handoutMasterId r:id="rId12"/>
  </p:handoutMasterIdLst>
  <p:sldIdLst>
    <p:sldId id="277" r:id="rId2"/>
    <p:sldId id="256" r:id="rId3"/>
    <p:sldId id="286" r:id="rId4"/>
    <p:sldId id="296" r:id="rId5"/>
    <p:sldId id="298" r:id="rId6"/>
    <p:sldId id="299" r:id="rId7"/>
    <p:sldId id="300" r:id="rId8"/>
    <p:sldId id="304" r:id="rId9"/>
    <p:sldId id="295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8016"/>
    <a:srgbClr val="90CC0A"/>
    <a:srgbClr val="FF4981"/>
    <a:srgbClr val="00FFFF"/>
    <a:srgbClr val="00FF00"/>
    <a:srgbClr val="4E75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599" autoAdjust="0"/>
  </p:normalViewPr>
  <p:slideViewPr>
    <p:cSldViewPr>
      <p:cViewPr varScale="1">
        <p:scale>
          <a:sx n="82" d="100"/>
          <a:sy n="82" d="100"/>
        </p:scale>
        <p:origin x="720" y="77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4/29/2026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4/29/2026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150" y="802299"/>
            <a:ext cx="8634824" cy="2541431"/>
          </a:xfrm>
        </p:spPr>
        <p:txBody>
          <a:bodyPr bIns="0" anchor="b">
            <a:normAutofit/>
          </a:bodyPr>
          <a:lstStyle>
            <a:lvl1pPr algn="l">
              <a:defRPr sz="6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150" y="3531205"/>
            <a:ext cx="8634823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799" b="0" cap="all" baseline="0">
                <a:solidFill>
                  <a:schemeClr val="tx1"/>
                </a:solidFill>
              </a:defRPr>
            </a:lvl1pPr>
            <a:lvl2pPr marL="457063" indent="0" algn="ctr">
              <a:buNone/>
              <a:defRPr sz="1799"/>
            </a:lvl2pPr>
            <a:lvl3pPr marL="914126" indent="0" algn="ctr">
              <a:buNone/>
              <a:defRPr sz="1799"/>
            </a:lvl3pPr>
            <a:lvl4pPr marL="1371189" indent="0" algn="ctr">
              <a:buNone/>
              <a:defRPr sz="1600"/>
            </a:lvl4pPr>
            <a:lvl5pPr marL="1828251" indent="0" algn="ctr">
              <a:buNone/>
              <a:defRPr sz="1600"/>
            </a:lvl5pPr>
            <a:lvl6pPr marL="2285314" indent="0" algn="ctr">
              <a:buNone/>
              <a:defRPr sz="1600"/>
            </a:lvl6pPr>
            <a:lvl7pPr marL="2742377" indent="0" algn="ctr">
              <a:buNone/>
              <a:defRPr sz="1600"/>
            </a:lvl7pPr>
            <a:lvl8pPr marL="3199440" indent="0" algn="ctr">
              <a:buNone/>
              <a:defRPr sz="1600"/>
            </a:lvl8pPr>
            <a:lvl9pPr marL="365650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5871" y="329308"/>
            <a:ext cx="4972620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290" y="798973"/>
            <a:ext cx="810808" cy="50357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150" y="3528542"/>
            <a:ext cx="863482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822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517" y="1847088"/>
            <a:ext cx="960502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46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3860" y="1756130"/>
            <a:ext cx="8640903" cy="1887950"/>
          </a:xfrm>
        </p:spPr>
        <p:txBody>
          <a:bodyPr anchor="b">
            <a:normAutofit/>
          </a:bodyPr>
          <a:lstStyle>
            <a:lvl1pPr algn="l">
              <a:defRPr sz="3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3861" y="3806196"/>
            <a:ext cx="8628198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3861" y="3804985"/>
            <a:ext cx="862819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126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8840" y="804890"/>
            <a:ext cx="9603134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6954" y="2010879"/>
            <a:ext cx="464394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2101" y="2017343"/>
            <a:ext cx="464394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517" y="1847088"/>
            <a:ext cx="960502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9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815" y="804164"/>
            <a:ext cx="9605159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6814" y="2019550"/>
            <a:ext cx="464394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199" b="0" cap="all" baseline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6814" y="2824270"/>
            <a:ext cx="464394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0692" y="2023004"/>
            <a:ext cx="464394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199" b="0" cap="all" baseline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0692" y="2821491"/>
            <a:ext cx="464394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517" y="1847088"/>
            <a:ext cx="960502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518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517" y="1847088"/>
            <a:ext cx="960502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784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21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295" y="798973"/>
            <a:ext cx="3272247" cy="2247117"/>
          </a:xfrm>
        </p:spPr>
        <p:txBody>
          <a:bodyPr anchor="b">
            <a:normAutofit/>
          </a:bodyPr>
          <a:lstStyle>
            <a:lvl1pPr algn="l">
              <a:defRPr sz="23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2401" y="798974"/>
            <a:ext cx="6010904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295" y="3205492"/>
            <a:ext cx="3274160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7903" y="3205491"/>
            <a:ext cx="326863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946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5440" y="482171"/>
            <a:ext cx="4073472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0828" y="1129513"/>
            <a:ext cx="5530887" cy="1830584"/>
          </a:xfrm>
        </p:spPr>
        <p:txBody>
          <a:bodyPr anchor="b">
            <a:normAutofit/>
          </a:bodyPr>
          <a:lstStyle>
            <a:lvl1pPr>
              <a:defRPr sz="3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2274" y="1122543"/>
            <a:ext cx="2790444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1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9951" y="3145992"/>
            <a:ext cx="5522965" cy="2003742"/>
          </a:xfrm>
        </p:spPr>
        <p:txBody>
          <a:bodyPr>
            <a:normAutofit/>
          </a:bodyPr>
          <a:lstStyle>
            <a:lvl1pPr marL="0" indent="0" algn="l">
              <a:buNone/>
              <a:defRPr sz="1799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005" y="5469857"/>
            <a:ext cx="5525912" cy="320123"/>
          </a:xfrm>
        </p:spPr>
        <p:txBody>
          <a:bodyPr/>
          <a:lstStyle>
            <a:lvl1pPr algn="l">
              <a:defRPr/>
            </a:lvl1pPr>
          </a:lstStyle>
          <a:p>
            <a:fld id="{9AFE8FB1-0A7A-443E-AAF7-31D4FA1AA31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005" y="318641"/>
            <a:ext cx="5539561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005" y="3143605"/>
            <a:ext cx="552591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240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517" y="1847088"/>
            <a:ext cx="960502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9229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6653" y="798974"/>
            <a:ext cx="1615321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296" y="798974"/>
            <a:ext cx="7826791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6653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9922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7"/>
            <a:ext cx="12188825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88825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202" y="804520"/>
            <a:ext cx="9600774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202" y="2015733"/>
            <a:ext cx="9600774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2171" y="330370"/>
            <a:ext cx="3499803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201" y="329308"/>
            <a:ext cx="593728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9935" y="798973"/>
            <a:ext cx="810808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799">
                <a:solidFill>
                  <a:schemeClr val="accent1"/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88825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80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3199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99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799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-23813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8CF94F">
                  <a:alpha val="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7928" y="2663013"/>
            <a:ext cx="9509484" cy="26670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hi-IN" sz="4000" dirty="0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  <a:cs typeface="Kokila" panose="020B0604020202020204" pitchFamily="34" charset="0"/>
              </a:rPr>
              <a:t>MCA</a:t>
            </a:r>
            <a:r>
              <a:rPr lang="hi-IN" sz="2800" dirty="0">
                <a:solidFill>
                  <a:schemeClr val="tx1">
                    <a:lumMod val="65000"/>
                  </a:schemeClr>
                </a:solidFill>
                <a:latin typeface="Kokila" panose="020B0604020202020204" pitchFamily="34" charset="0"/>
                <a:cs typeface="Kokila" panose="020B0604020202020204" pitchFamily="34" charset="0"/>
              </a:rPr>
              <a:t> </a:t>
            </a:r>
            <a:br>
              <a:rPr lang="hi-IN" sz="2800" dirty="0">
                <a:latin typeface="Kokila" panose="020B0604020202020204" pitchFamily="34" charset="0"/>
                <a:cs typeface="Kokila" panose="020B0604020202020204" pitchFamily="34" charset="0"/>
              </a:rPr>
            </a:br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  <a:latin typeface="Kokila" panose="020B0604020202020204" pitchFamily="34" charset="0"/>
                <a:cs typeface="Kokila" panose="020B0604020202020204" pitchFamily="34" charset="0"/>
              </a:rPr>
              <a:t>2024-26</a:t>
            </a:r>
            <a:endParaRPr lang="en-US" sz="1600" dirty="0">
              <a:solidFill>
                <a:schemeClr val="accent5">
                  <a:lumMod val="60000"/>
                  <a:lumOff val="40000"/>
                </a:schemeClr>
              </a:solidFill>
              <a:latin typeface="Kokila" panose="020B0604020202020204" pitchFamily="34" charset="0"/>
              <a:cs typeface="Kokila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075612" y="4393089"/>
            <a:ext cx="4038600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hi-IN" sz="2400" b="1" dirty="0">
                <a:solidFill>
                  <a:srgbClr val="00FFFF"/>
                </a:solidFill>
                <a:latin typeface="Kokila" panose="020B0604020202020204" pitchFamily="34" charset="0"/>
                <a:cs typeface="Kokila" panose="020B0604020202020204" pitchFamily="34" charset="0"/>
              </a:rPr>
              <a:t>प्रस्तुतकर्ता : </a:t>
            </a:r>
            <a:endParaRPr lang="en-US" sz="2400" b="1" dirty="0">
              <a:solidFill>
                <a:srgbClr val="00FFFF"/>
              </a:solidFill>
              <a:latin typeface="Kokila" panose="020B0604020202020204" pitchFamily="34" charset="0"/>
              <a:cs typeface="Kokila" panose="020B0604020202020204" pitchFamily="34" charset="0"/>
            </a:endParaRPr>
          </a:p>
          <a:p>
            <a:pPr algn="ctr">
              <a:lnSpc>
                <a:spcPct val="90000"/>
              </a:lnSpc>
            </a:pPr>
            <a:r>
              <a:rPr lang="hi-IN" sz="2400" b="1" dirty="0">
                <a:solidFill>
                  <a:srgbClr val="00FFFF"/>
                </a:solidFill>
                <a:latin typeface="Kokila" panose="020B0604020202020204" pitchFamily="34" charset="0"/>
                <a:cs typeface="Kokila" panose="020B0604020202020204" pitchFamily="34" charset="0"/>
              </a:rPr>
              <a:t>आश्विनी साहू </a:t>
            </a:r>
          </a:p>
          <a:p>
            <a:pPr algn="ctr">
              <a:lnSpc>
                <a:spcPct val="90000"/>
              </a:lnSpc>
            </a:pPr>
            <a:endParaRPr lang="en-US" sz="2400" dirty="0">
              <a:solidFill>
                <a:srgbClr val="00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41412" y="786080"/>
            <a:ext cx="9906000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hi-IN" sz="4000" b="1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kila" panose="020B0604020202020204" pitchFamily="34" charset="0"/>
                <a:cs typeface="Kokila" panose="020B0604020202020204" pitchFamily="34" charset="0"/>
              </a:rPr>
              <a:t>महात्मा गांधी अंतरराष्ट्रीय हिन्दी विश्वविद्यालय , वर्धा , महाराष्ट्र </a:t>
            </a:r>
            <a:endParaRPr lang="en-US" sz="4000" dirty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4825" y="2819400"/>
            <a:ext cx="9906000" cy="77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hi-IN" sz="4800" dirty="0">
                <a:ln>
                  <a:solidFill>
                    <a:schemeClr val="tx1"/>
                  </a:solidFill>
                </a:ln>
                <a:solidFill>
                  <a:srgbClr val="90CC0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kila" panose="020B0604020202020204" pitchFamily="34" charset="0"/>
                <a:cs typeface="Kokila" panose="020B0604020202020204" pitchFamily="34" charset="0"/>
              </a:rPr>
              <a:t>टास्क मैनेजमेंट एपीआई</a:t>
            </a:r>
            <a:endParaRPr lang="en-US" sz="4800" dirty="0">
              <a:ln>
                <a:solidFill>
                  <a:schemeClr val="tx1"/>
                </a:solidFill>
              </a:ln>
              <a:solidFill>
                <a:srgbClr val="90CC0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kila" panose="020B0604020202020204" pitchFamily="34" charset="0"/>
              <a:cs typeface="Kokila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3212" y="304800"/>
            <a:ext cx="11569226" cy="6277245"/>
          </a:xfrm>
          <a:prstGeom prst="rect">
            <a:avLst/>
          </a:prstGeom>
          <a:noFill/>
          <a:ln w="19050"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8" name="TextBox 7"/>
          <p:cNvSpPr txBox="1"/>
          <p:nvPr/>
        </p:nvSpPr>
        <p:spPr>
          <a:xfrm>
            <a:off x="2284412" y="4212173"/>
            <a:ext cx="2895600" cy="978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90000"/>
              </a:lnSpc>
            </a:pPr>
            <a:r>
              <a:rPr lang="hi-IN" sz="3200" dirty="0">
                <a:solidFill>
                  <a:schemeClr val="tx1">
                    <a:lumMod val="65000"/>
                  </a:schemeClr>
                </a:solidFill>
                <a:latin typeface="Kokila" panose="020B0604020202020204" pitchFamily="34" charset="0"/>
                <a:cs typeface="Kokila" panose="020B0604020202020204" pitchFamily="34" charset="0"/>
              </a:rPr>
              <a:t>(चतुर्थ छमाही)</a:t>
            </a:r>
            <a:endParaRPr lang="en-US" sz="3200" dirty="0">
              <a:solidFill>
                <a:schemeClr val="tx1">
                  <a:lumMod val="65000"/>
                </a:schemeClr>
              </a:solidFill>
            </a:endParaRPr>
          </a:p>
          <a:p>
            <a:pPr lvl="1">
              <a:lnSpc>
                <a:spcPct val="90000"/>
              </a:lnSpc>
            </a:pPr>
            <a:endParaRPr lang="en-US" sz="3200" dirty="0">
              <a:solidFill>
                <a:schemeClr val="tx1">
                  <a:lumMod val="65000"/>
                </a:schemeClr>
              </a:solidFill>
            </a:endParaRPr>
          </a:p>
        </p:txBody>
      </p:sp>
      <p:pic>
        <p:nvPicPr>
          <p:cNvPr id="13" name="Picture 12"/>
          <p:cNvPicPr/>
          <p:nvPr/>
        </p:nvPicPr>
        <p:blipFill>
          <a:blip r:embed="rId2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6371" y="1396385"/>
            <a:ext cx="1042908" cy="1242950"/>
          </a:xfrm>
          <a:prstGeom prst="rect">
            <a:avLst/>
          </a:prstGeom>
          <a:ln w="88900" cap="sq" cmpd="thickThin">
            <a:noFill/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0" name="TextBox 9"/>
          <p:cNvSpPr txBox="1"/>
          <p:nvPr/>
        </p:nvSpPr>
        <p:spPr>
          <a:xfrm>
            <a:off x="1157077" y="3366827"/>
            <a:ext cx="9906000" cy="519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hi-IN" sz="3000" dirty="0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kila" panose="020B0604020202020204" pitchFamily="34" charset="0"/>
                <a:cs typeface="Kokila" panose="020B0604020202020204" pitchFamily="34" charset="0"/>
              </a:rPr>
              <a:t>इंटर्नशिप परियोजना कार्य प्रस्तुतिकरण</a:t>
            </a:r>
            <a:endParaRPr lang="en-US" sz="3000" dirty="0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kila" panose="020B0604020202020204" pitchFamily="34" charset="0"/>
              <a:cs typeface="Kokila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84412" y="4826270"/>
            <a:ext cx="2895600" cy="67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90000"/>
              </a:lnSpc>
            </a:pPr>
            <a:r>
              <a:rPr lang="hi-IN" sz="2100" dirty="0">
                <a:solidFill>
                  <a:schemeClr val="accent5">
                    <a:lumMod val="60000"/>
                    <a:lumOff val="40000"/>
                  </a:schemeClr>
                </a:solidFill>
                <a:latin typeface="Kokila" panose="020B0604020202020204" pitchFamily="34" charset="0"/>
                <a:cs typeface="Kokila" panose="020B0604020202020204" pitchFamily="34" charset="0"/>
              </a:rPr>
              <a:t>(2024/10/811/</a:t>
            </a:r>
            <a:r>
              <a:rPr lang="en-IN" sz="2100" dirty="0">
                <a:solidFill>
                  <a:schemeClr val="accent5">
                    <a:lumMod val="60000"/>
                    <a:lumOff val="40000"/>
                  </a:schemeClr>
                </a:solidFill>
                <a:latin typeface="Kokila" panose="020B0604020202020204" pitchFamily="34" charset="0"/>
                <a:cs typeface="Kokila" panose="020B0604020202020204" pitchFamily="34" charset="0"/>
              </a:rPr>
              <a:t>12</a:t>
            </a:r>
            <a:r>
              <a:rPr lang="hi-IN" sz="2100" dirty="0">
                <a:solidFill>
                  <a:schemeClr val="accent5">
                    <a:lumMod val="60000"/>
                    <a:lumOff val="40000"/>
                  </a:schemeClr>
                </a:solidFill>
                <a:latin typeface="Kokila" panose="020B0604020202020204" pitchFamily="34" charset="0"/>
                <a:cs typeface="Kokila" panose="020B0604020202020204" pitchFamily="34" charset="0"/>
              </a:rPr>
              <a:t>)</a:t>
            </a:r>
            <a:endParaRPr lang="en-US" sz="21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lvl="1">
              <a:lnSpc>
                <a:spcPct val="90000"/>
              </a:lnSpc>
            </a:pPr>
            <a:endParaRPr lang="en-US" sz="21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090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3212" y="304800"/>
            <a:ext cx="11569226" cy="6277245"/>
          </a:xfrm>
          <a:prstGeom prst="rect">
            <a:avLst/>
          </a:prstGeom>
          <a:noFill/>
          <a:ln w="19050"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778" y="2751262"/>
            <a:ext cx="8502094" cy="138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14:vortex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03212" y="304800"/>
            <a:ext cx="11569226" cy="6277245"/>
          </a:xfrm>
          <a:prstGeom prst="rect">
            <a:avLst/>
          </a:prstGeom>
          <a:noFill/>
          <a:ln w="19050"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4" name="AutoShape 2" descr="Generated image: Team collaboration in a bright offic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22412" y="914400"/>
            <a:ext cx="37096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FFFF"/>
                </a:solidFill>
                <a:latin typeface="Comic Sans MS" panose="030F0702030302020204" pitchFamily="66" charset="0"/>
              </a:rPr>
              <a:t>Project </a:t>
            </a:r>
            <a:r>
              <a:rPr lang="en-US" sz="3200" b="1" dirty="0">
                <a:solidFill>
                  <a:srgbClr val="EA8016"/>
                </a:solidFill>
                <a:latin typeface="Comic Sans MS" panose="030F0702030302020204" pitchFamily="66" charset="0"/>
              </a:rPr>
              <a:t>Objective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370012" y="1054495"/>
            <a:ext cx="570861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Build RESTful Task Management API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Secure system using JWT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Support multiple users (RBAC)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Provide scalable backend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3812" y="5943600"/>
            <a:ext cx="2801139" cy="45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501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3212" y="304800"/>
            <a:ext cx="11569226" cy="6277245"/>
          </a:xfrm>
          <a:prstGeom prst="rect">
            <a:avLst/>
          </a:prstGeom>
          <a:noFill/>
          <a:ln w="19050"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3812" y="533400"/>
            <a:ext cx="2801139" cy="45608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217612" y="1600200"/>
            <a:ext cx="8920400" cy="3081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Comic Sans MS" panose="030F0702030302020204" pitchFamily="66" charset="0"/>
              </a:rPr>
              <a:t>👉 “We are using </a:t>
            </a:r>
            <a:r>
              <a:rPr lang="en-US" sz="2200" dirty="0">
                <a:solidFill>
                  <a:srgbClr val="90CC0A"/>
                </a:solidFill>
                <a:latin typeface="Comic Sans MS" panose="030F0702030302020204" pitchFamily="66" charset="0"/>
              </a:rPr>
              <a:t>Swagger</a:t>
            </a:r>
            <a:r>
              <a:rPr lang="en-US" sz="2200" dirty="0">
                <a:latin typeface="Comic Sans MS" panose="030F0702030302020204" pitchFamily="66" charset="0"/>
              </a:rPr>
              <a:t> </a:t>
            </a:r>
            <a:r>
              <a:rPr lang="en-US" sz="2200" dirty="0">
                <a:solidFill>
                  <a:srgbClr val="00FF00"/>
                </a:solidFill>
                <a:latin typeface="Comic Sans MS" panose="030F0702030302020204" pitchFamily="66" charset="0"/>
              </a:rPr>
              <a:t>UI</a:t>
            </a:r>
            <a:r>
              <a:rPr lang="en-US" sz="2200" dirty="0">
                <a:latin typeface="Comic Sans MS" panose="030F0702030302020204" pitchFamily="66" charset="0"/>
              </a:rPr>
              <a:t> for API testing”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chemeClr val="accent1">
                    <a:lumMod val="75000"/>
                  </a:schemeClr>
                </a:solidFill>
                <a:latin typeface="Comic Sans MS" panose="030F0702030302020204" pitchFamily="66" charset="0"/>
              </a:rPr>
              <a:t>👉</a:t>
            </a:r>
            <a:r>
              <a:rPr lang="en-US" sz="2200" dirty="0">
                <a:latin typeface="Comic Sans MS" panose="030F0702030302020204" pitchFamily="66" charset="0"/>
              </a:rPr>
              <a:t> “First we register a user”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omic Sans MS" panose="030F0702030302020204" pitchFamily="66" charset="0"/>
              </a:rPr>
              <a:t>👉 “Then </a:t>
            </a:r>
            <a:r>
              <a:rPr lang="en-US" sz="2200" dirty="0">
                <a:solidFill>
                  <a:schemeClr val="accent1">
                    <a:lumMod val="75000"/>
                  </a:schemeClr>
                </a:solidFill>
                <a:latin typeface="Comic Sans MS" panose="030F0702030302020204" pitchFamily="66" charset="0"/>
              </a:rPr>
              <a:t>login</a:t>
            </a:r>
            <a:r>
              <a:rPr lang="en-US" sz="2200" dirty="0">
                <a:latin typeface="Comic Sans MS" panose="030F0702030302020204" pitchFamily="66" charset="0"/>
              </a:rPr>
              <a:t> and generate JWT token”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FFC000"/>
                </a:solidFill>
                <a:latin typeface="Comic Sans MS" panose="030F0702030302020204" pitchFamily="66" charset="0"/>
              </a:rPr>
              <a:t>👉</a:t>
            </a:r>
            <a:r>
              <a:rPr lang="en-US" sz="2200" dirty="0">
                <a:latin typeface="Comic Sans MS" panose="030F0702030302020204" pitchFamily="66" charset="0"/>
              </a:rPr>
              <a:t> “We authorize requests using Bearer token”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omic Sans MS" panose="030F0702030302020204" pitchFamily="66" charset="0"/>
              </a:rPr>
              <a:t>👉 “Then perform </a:t>
            </a:r>
            <a:r>
              <a:rPr lang="en-US" sz="2200" dirty="0">
                <a:solidFill>
                  <a:srgbClr val="00FFFF"/>
                </a:solidFill>
                <a:latin typeface="Comic Sans MS" panose="030F0702030302020204" pitchFamily="66" charset="0"/>
              </a:rPr>
              <a:t>C</a:t>
            </a:r>
            <a:r>
              <a:rPr lang="en-US" sz="2200" dirty="0">
                <a:solidFill>
                  <a:srgbClr val="FF4981"/>
                </a:solidFill>
                <a:latin typeface="Comic Sans MS" panose="030F0702030302020204" pitchFamily="66" charset="0"/>
              </a:rPr>
              <a:t>R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U</a:t>
            </a:r>
            <a:r>
              <a:rPr lang="en-US" sz="2200" dirty="0">
                <a:solidFill>
                  <a:srgbClr val="FFC000"/>
                </a:solidFill>
                <a:latin typeface="Comic Sans MS" panose="030F0702030302020204" pitchFamily="66" charset="0"/>
              </a:rPr>
              <a:t>D</a:t>
            </a:r>
            <a:r>
              <a:rPr lang="en-US" sz="2200" dirty="0">
                <a:latin typeface="Comic Sans MS" panose="030F0702030302020204" pitchFamily="66" charset="0"/>
              </a:rPr>
              <a:t> operations on tasks”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00FFFF"/>
                </a:solidFill>
                <a:latin typeface="Comic Sans MS" panose="030F0702030302020204" pitchFamily="66" charset="0"/>
              </a:rPr>
              <a:t>👉</a:t>
            </a:r>
            <a:r>
              <a:rPr lang="en-US" sz="2200" dirty="0">
                <a:latin typeface="Comic Sans MS" panose="030F0702030302020204" pitchFamily="66" charset="0"/>
              </a:rPr>
              <a:t> “Also support pagination and role-based access”</a:t>
            </a:r>
          </a:p>
        </p:txBody>
      </p:sp>
    </p:spTree>
    <p:extLst>
      <p:ext uri="{BB962C8B-B14F-4D97-AF65-F5344CB8AC3E}">
        <p14:creationId xmlns:p14="http://schemas.microsoft.com/office/powerpoint/2010/main" val="394563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03212" y="304800"/>
            <a:ext cx="11569226" cy="6277245"/>
          </a:xfrm>
          <a:prstGeom prst="rect">
            <a:avLst/>
          </a:prstGeom>
          <a:noFill/>
          <a:ln w="19050"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4" name="AutoShape 2" descr="Generated image: Team collaboration in a bright offic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 rot="16200000">
            <a:off x="-1330225" y="1574988"/>
            <a:ext cx="373806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4981"/>
                </a:solidFill>
                <a:latin typeface="Comic Sans MS" panose="030F0702030302020204" pitchFamily="66" charset="0"/>
              </a:rPr>
              <a:t>System</a:t>
            </a:r>
            <a:r>
              <a:rPr lang="en-US" sz="2400" b="1" dirty="0">
                <a:solidFill>
                  <a:srgbClr val="00FFFF"/>
                </a:solidFill>
                <a:latin typeface="Comic Sans MS" panose="030F0702030302020204" pitchFamily="66" charset="0"/>
              </a:rPr>
              <a:t> Architecture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0103484" y="4830128"/>
            <a:ext cx="2801139" cy="45608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41" y="445355"/>
            <a:ext cx="10049171" cy="60133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626199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03212" y="304800"/>
            <a:ext cx="11569226" cy="6277245"/>
          </a:xfrm>
          <a:prstGeom prst="rect">
            <a:avLst/>
          </a:prstGeom>
          <a:noFill/>
          <a:ln w="19050"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4" name="AutoShape 2" descr="Generated image: Team collaboration in a bright offic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22412" y="914400"/>
            <a:ext cx="29770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C000"/>
                </a:solidFill>
                <a:latin typeface="Comic Sans MS" panose="030F0702030302020204" pitchFamily="66" charset="0"/>
              </a:rPr>
              <a:t>API</a:t>
            </a:r>
            <a:r>
              <a:rPr lang="en-US" sz="3200" b="1" dirty="0">
                <a:solidFill>
                  <a:srgbClr val="FF4981"/>
                </a:solidFill>
                <a:latin typeface="Comic Sans MS" panose="030F0702030302020204" pitchFamily="66" charset="0"/>
              </a:rPr>
              <a:t> </a:t>
            </a:r>
            <a:r>
              <a:rPr lang="en-US" sz="3200" b="1" dirty="0">
                <a:solidFill>
                  <a:srgbClr val="00FFFF"/>
                </a:solidFill>
                <a:latin typeface="Comic Sans MS" panose="030F0702030302020204" pitchFamily="66" charset="0"/>
              </a:rPr>
              <a:t>Endpoints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3812" y="5943600"/>
            <a:ext cx="2801139" cy="456084"/>
          </a:xfrm>
          <a:prstGeom prst="rect">
            <a:avLst/>
          </a:prstGeom>
        </p:spPr>
      </p:pic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522412" y="1518856"/>
            <a:ext cx="4049507" cy="4324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 err="1">
                <a:solidFill>
                  <a:srgbClr val="00B050"/>
                </a:solidFill>
                <a:latin typeface="Comic Sans MS" panose="030F0702030302020204" pitchFamily="66" charset="0"/>
              </a:rPr>
              <a:t>Auth</a:t>
            </a:r>
            <a:r>
              <a:rPr lang="en-US" sz="2200" b="1" dirty="0">
                <a:solidFill>
                  <a:srgbClr val="00B050"/>
                </a:solidFill>
                <a:latin typeface="Comic Sans MS" panose="030F0702030302020204" pitchFamily="66" charset="0"/>
              </a:rPr>
              <a:t> APIs</a:t>
            </a:r>
            <a:endParaRPr lang="en-US" sz="2200" dirty="0">
              <a:solidFill>
                <a:srgbClr val="00B050"/>
              </a:solidFill>
              <a:latin typeface="Comic Sans MS" panose="030F0702030302020204" pitchFamily="66" charset="0"/>
            </a:endParaRPr>
          </a:p>
          <a:p>
            <a:pPr lvl="1"/>
            <a:r>
              <a:rPr lang="en-US" sz="2200" dirty="0">
                <a:latin typeface="Comic Sans MS" panose="030F0702030302020204" pitchFamily="66" charset="0"/>
              </a:rPr>
              <a:t>POST /register </a:t>
            </a:r>
          </a:p>
          <a:p>
            <a:pPr lvl="1"/>
            <a:r>
              <a:rPr lang="en-US" sz="2200" dirty="0">
                <a:latin typeface="Comic Sans MS" panose="030F0702030302020204" pitchFamily="66" charset="0"/>
              </a:rPr>
              <a:t>POST /login</a:t>
            </a:r>
          </a:p>
          <a:p>
            <a:r>
              <a:rPr lang="en-US" sz="2200" dirty="0">
                <a:latin typeface="Comic Sans MS" panose="030F0702030302020204" pitchFamily="66" charset="0"/>
              </a:rPr>
              <a:t> </a:t>
            </a:r>
          </a:p>
          <a:p>
            <a:r>
              <a:rPr lang="en-US" sz="2200" b="1" dirty="0">
                <a:solidFill>
                  <a:srgbClr val="00B050"/>
                </a:solidFill>
                <a:latin typeface="Comic Sans MS" panose="030F0702030302020204" pitchFamily="66" charset="0"/>
              </a:rPr>
              <a:t>Task APIs</a:t>
            </a:r>
            <a:endParaRPr lang="en-US" sz="2200" dirty="0">
              <a:solidFill>
                <a:srgbClr val="00B050"/>
              </a:solidFill>
              <a:latin typeface="Comic Sans MS" panose="030F0702030302020204" pitchFamily="66" charset="0"/>
            </a:endParaRP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Comic Sans MS" panose="030F0702030302020204" pitchFamily="66" charset="0"/>
              </a:rPr>
              <a:t>GET /tasks 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Comic Sans MS" panose="030F0702030302020204" pitchFamily="66" charset="0"/>
              </a:rPr>
              <a:t>POST /tasks 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Comic Sans MS" panose="030F0702030302020204" pitchFamily="66" charset="0"/>
              </a:rPr>
              <a:t>PUT /tasks/{id} </a:t>
            </a: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Comic Sans MS" panose="030F0702030302020204" pitchFamily="66" charset="0"/>
              </a:rPr>
              <a:t>DELETE /tasks/{id}</a:t>
            </a:r>
            <a:endParaRPr lang="hi-IN" sz="2200" dirty="0">
              <a:latin typeface="Comic Sans MS" panose="030F0702030302020204" pitchFamily="66" charset="0"/>
            </a:endParaRPr>
          </a:p>
          <a:p>
            <a:pPr lvl="1">
              <a:lnSpc>
                <a:spcPct val="150000"/>
              </a:lnSpc>
            </a:pPr>
            <a:r>
              <a:rPr lang="en-US" sz="2200" dirty="0">
                <a:latin typeface="Comic Sans MS" panose="030F0702030302020204" pitchFamily="66" charset="0"/>
              </a:rPr>
              <a:t>DELETE /tasks/{id}</a:t>
            </a:r>
          </a:p>
        </p:txBody>
      </p:sp>
    </p:spTree>
    <p:extLst>
      <p:ext uri="{BB962C8B-B14F-4D97-AF65-F5344CB8AC3E}">
        <p14:creationId xmlns:p14="http://schemas.microsoft.com/office/powerpoint/2010/main" val="524613238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03212" y="304800"/>
            <a:ext cx="11569226" cy="6277245"/>
          </a:xfrm>
          <a:prstGeom prst="rect">
            <a:avLst/>
          </a:prstGeom>
          <a:noFill/>
          <a:ln w="19050"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4" name="AutoShape 2" descr="Generated image: Team collaboration in a bright offic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370012" y="914400"/>
            <a:ext cx="164179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4981"/>
                </a:solidFill>
                <a:latin typeface="Comic Sans MS" panose="030F0702030302020204" pitchFamily="66" charset="0"/>
              </a:rPr>
              <a:t>Testing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7212" y="6103674"/>
            <a:ext cx="2286000" cy="372209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262181"/>
              </p:ext>
            </p:extLst>
          </p:nvPr>
        </p:nvGraphicFramePr>
        <p:xfrm>
          <a:off x="1446212" y="1643637"/>
          <a:ext cx="9525000" cy="4223767"/>
        </p:xfrm>
        <a:graphic>
          <a:graphicData uri="http://schemas.openxmlformats.org/drawingml/2006/table">
            <a:tbl>
              <a:tblPr firstRow="1" firstCol="1" bandRow="1">
                <a:tableStyleId>{8EC20E35-A176-4012-BC5E-935CFFF8708E}</a:tableStyleId>
              </a:tblPr>
              <a:tblGrid>
                <a:gridCol w="1600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28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 dirty="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परीक्षण प्रकार</a:t>
                      </a:r>
                      <a:endParaRPr lang="en-US" sz="1400" dirty="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परीक्षण विवरण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अपेक्षित परिणाम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वास्तविक परिणाम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स्थिति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3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प्रमाणीकरण परीक्षण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वैध लॉगिन पर टोकन प्राप्त करना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टोकन जनरेट होना चाहिए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टोकन सफलतापूर्वक प्राप्त हुआ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सफल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8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प्रमाणीकरण परीक्षण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गलत क्रेडेंशियल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एक्सेस अस्वीकार होना चाहिए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उचित त्रुटि संदेश प्राप्त हुआ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सफल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3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 dirty="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सी.आर.यू.डी. (निर्माण)</a:t>
                      </a:r>
                      <a:endParaRPr lang="en-US" sz="1400" dirty="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नया टास्क बनाना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टास्क डाटाबेस में सेव होना चाहिए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टास्क सफलतापूर्वक सेव हुआ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सफल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8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सी.आर.यू.डी. (पठन)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सभी टास्क प्राप्त करना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टास्क सूची प्राप्त होनी चाहिए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सही डेटा प्राप्त हुआ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सफल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8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सी.आर.यू.डी. (अद्यतन)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टास्क अपडेट करना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डेटा अपडेट होना चाहिए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सफलतापूर्वक अपडेट हुआ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सफल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3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सी.आर.यू.डी. (विलोपन)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टास्क हटाना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टास्क हट जाना चाहिए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टास्क सफलतापूर्वक हटाया गया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सफल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8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पेजिनेशन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पेज बदलने पर डेटा बदलना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सीमित डेटा प्रति पेज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सही पेज डेटा प्राप्त हुआ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सफल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8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फिल्टरिंग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स्टेटस/यूज़र के आधार पर डेटा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फ़िल्टर किया हुआ डेटा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सटीक परिणाम प्राप्त हुआ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सफल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93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रोल-बेस्ड एक्सेस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सामान्य यूज़र द्वारा अन्य टास्क हटाना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एक्सेस अस्वीकार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त्रुटि संदेश प्राप्त हुआ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सफल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93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रोल-बेस्ड एक्सेस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 dirty="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एडमिन द्वारा सभी टास्क एक्सेस</a:t>
                      </a:r>
                      <a:endParaRPr lang="en-US" sz="1400" dirty="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पूर्ण एक्सेस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सभी कार्य सफलतापूर्वक किए गए</a:t>
                      </a:r>
                      <a:endParaRPr lang="en-US" sz="140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i-IN" sz="1600" dirty="0">
                          <a:effectLst/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सफल</a:t>
                      </a:r>
                      <a:endParaRPr lang="en-US" sz="1400" dirty="0">
                        <a:effectLst/>
                        <a:latin typeface="Kokila" panose="020B0604020202020204" pitchFamily="34" charset="0"/>
                        <a:ea typeface="Calibri" panose="020F0502020204030204" pitchFamily="34" charset="0"/>
                        <a:cs typeface="Kokila" panose="020B0604020202020204" pitchFamily="34" charset="0"/>
                      </a:endParaRPr>
                    </a:p>
                  </a:txBody>
                  <a:tcPr marL="36929" marR="36929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7154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03212" y="304800"/>
            <a:ext cx="11569226" cy="6277245"/>
          </a:xfrm>
          <a:prstGeom prst="rect">
            <a:avLst/>
          </a:prstGeom>
          <a:noFill/>
          <a:ln w="19050"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4" name="AutoShape 2" descr="Generated image: Team collaboration in a bright offic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 rot="16200000">
            <a:off x="-1153131" y="1778246"/>
            <a:ext cx="34499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omic Sans MS" panose="030F0702030302020204" pitchFamily="66" charset="0"/>
              </a:rPr>
              <a:t>h</a:t>
            </a:r>
            <a:r>
              <a:rPr lang="en-US" sz="2800" b="1" dirty="0">
                <a:solidFill>
                  <a:srgbClr val="FF4981"/>
                </a:solidFill>
                <a:latin typeface="Comic Sans MS" panose="030F0702030302020204" pitchFamily="66" charset="0"/>
              </a:rPr>
              <a:t>t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t</a:t>
            </a:r>
            <a:r>
              <a:rPr lang="en-US" sz="2800" b="1" dirty="0">
                <a:solidFill>
                  <a:srgbClr val="EA8016"/>
                </a:solidFill>
                <a:latin typeface="Comic Sans MS" panose="030F0702030302020204" pitchFamily="66" charset="0"/>
              </a:rPr>
              <a:t>p</a:t>
            </a:r>
            <a:r>
              <a:rPr lang="en-US" sz="2800" b="1" dirty="0">
                <a:solidFill>
                  <a:srgbClr val="00FFFF"/>
                </a:solidFill>
                <a:latin typeface="Comic Sans MS" panose="030F0702030302020204" pitchFamily="66" charset="0"/>
              </a:rPr>
              <a:t> </a:t>
            </a:r>
            <a:r>
              <a:rPr lang="en-US" sz="2800" b="1" dirty="0" err="1">
                <a:solidFill>
                  <a:srgbClr val="00FFFF"/>
                </a:solidFill>
                <a:latin typeface="Comic Sans MS" panose="030F0702030302020204" pitchFamily="66" charset="0"/>
              </a:rPr>
              <a:t>Status_Codes</a:t>
            </a:r>
            <a:endParaRPr lang="en-US" sz="2800" b="1" dirty="0">
              <a:solidFill>
                <a:srgbClr val="00FFFF"/>
              </a:solidFill>
              <a:latin typeface="Comic Sans MS" panose="030F0702030302020204" pitchFamily="66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0179684" y="4830128"/>
            <a:ext cx="2801139" cy="456084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908030"/>
              </p:ext>
            </p:extLst>
          </p:nvPr>
        </p:nvGraphicFramePr>
        <p:xfrm>
          <a:off x="4265612" y="1633353"/>
          <a:ext cx="3810000" cy="468410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7632">
                <a:tc>
                  <a:txBody>
                    <a:bodyPr/>
                    <a:lstStyle/>
                    <a:p>
                      <a:pPr algn="ctr"/>
                      <a:r>
                        <a:rPr lang="hi-IN" b="1" dirty="0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स्टेटस कोड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i-IN" b="1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नाम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i-IN" b="1" dirty="0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उपयोग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60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डेटा successfully मिला / update हुआ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63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201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Created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i-IN" dirty="0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नया </a:t>
                      </a:r>
                      <a:r>
                        <a:rPr lang="en-US" dirty="0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user / task </a:t>
                      </a:r>
                      <a:r>
                        <a:rPr lang="hi-IN" dirty="0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बनाया गया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6617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202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Accepted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request </a:t>
                      </a:r>
                      <a:r>
                        <a:rPr lang="hi-IN" dirty="0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स्वीकार हुआ (</a:t>
                      </a:r>
                      <a:r>
                        <a:rPr lang="en-US" dirty="0" err="1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async</a:t>
                      </a:r>
                      <a:r>
                        <a:rPr lang="en-US" dirty="0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 cases)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6617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204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No Content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delete/update </a:t>
                      </a:r>
                      <a:r>
                        <a:rPr lang="hi-IN" dirty="0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के बाद कोई </a:t>
                      </a:r>
                      <a:r>
                        <a:rPr lang="en-US" dirty="0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data </a:t>
                      </a:r>
                      <a:r>
                        <a:rPr lang="hi-IN" dirty="0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नहीं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905622"/>
              </p:ext>
            </p:extLst>
          </p:nvPr>
        </p:nvGraphicFramePr>
        <p:xfrm>
          <a:off x="8228012" y="1633353"/>
          <a:ext cx="2819400" cy="46841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9157">
                <a:tc>
                  <a:txBody>
                    <a:bodyPr/>
                    <a:lstStyle/>
                    <a:p>
                      <a:pPr algn="ctr"/>
                      <a:r>
                        <a:rPr lang="hi-IN" b="1" dirty="0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कोड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5939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validation error (body </a:t>
                      </a:r>
                      <a:r>
                        <a:rPr lang="hi-IN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गलत)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157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401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JWT token missing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15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403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role-based restriction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157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404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task/user not found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9157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429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login rate limit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376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Kokila" panose="020B0604020202020204" pitchFamily="34" charset="0"/>
                          <a:cs typeface="Kokila" panose="020B0604020202020204" pitchFamily="34" charset="0"/>
                        </a:rPr>
                        <a:t>server error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551016" y="1643637"/>
            <a:ext cx="239791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hi-IN" sz="2400" dirty="0">
                <a:latin typeface="Kokila" panose="020B0604020202020204" pitchFamily="34" charset="0"/>
                <a:cs typeface="Kokila" panose="020B0604020202020204" pitchFamily="34" charset="0"/>
              </a:rPr>
              <a:t>इस ए.पी.आई. में </a:t>
            </a:r>
            <a:r>
              <a:rPr lang="en-US" sz="2400" dirty="0">
                <a:latin typeface="Kokila" panose="020B0604020202020204" pitchFamily="34" charset="0"/>
                <a:cs typeface="Kokila" panose="020B0604020202020204" pitchFamily="34" charset="0"/>
              </a:rPr>
              <a:t>HTTP </a:t>
            </a:r>
            <a:r>
              <a:rPr lang="hi-IN" sz="2400" dirty="0">
                <a:latin typeface="Kokila" panose="020B0604020202020204" pitchFamily="34" charset="0"/>
                <a:cs typeface="Kokila" panose="020B0604020202020204" pitchFamily="34" charset="0"/>
              </a:rPr>
              <a:t>स्टेटस कोड्स का उपयोग करके हर अनुरोध का परिणाम साफ़ तरीके से बताया जाता है।</a:t>
            </a:r>
            <a:br>
              <a:rPr lang="hi-IN" sz="2400" dirty="0">
                <a:latin typeface="Kokila" panose="020B0604020202020204" pitchFamily="34" charset="0"/>
                <a:cs typeface="Kokila" panose="020B0604020202020204" pitchFamily="34" charset="0"/>
              </a:rPr>
            </a:br>
            <a:r>
              <a:rPr lang="hi-IN" sz="2400" dirty="0">
                <a:latin typeface="Kokila" panose="020B0604020202020204" pitchFamily="34" charset="0"/>
                <a:cs typeface="Kokila" panose="020B0604020202020204" pitchFamily="34" charset="0"/>
              </a:rPr>
              <a:t>2</a:t>
            </a:r>
            <a:r>
              <a:rPr lang="en-US" sz="2400" dirty="0">
                <a:latin typeface="Kokila" panose="020B0604020202020204" pitchFamily="34" charset="0"/>
                <a:cs typeface="Kokila" panose="020B0604020202020204" pitchFamily="34" charset="0"/>
              </a:rPr>
              <a:t>xx </a:t>
            </a:r>
            <a:r>
              <a:rPr lang="hi-IN" sz="2400" dirty="0">
                <a:latin typeface="Kokila" panose="020B0604020202020204" pitchFamily="34" charset="0"/>
                <a:cs typeface="Kokila" panose="020B0604020202020204" pitchFamily="34" charset="0"/>
              </a:rPr>
              <a:t>कोड सफलता दिखाते हैं, 4</a:t>
            </a:r>
            <a:r>
              <a:rPr lang="en-US" sz="2400" dirty="0">
                <a:latin typeface="Kokila" panose="020B0604020202020204" pitchFamily="34" charset="0"/>
                <a:cs typeface="Kokila" panose="020B0604020202020204" pitchFamily="34" charset="0"/>
              </a:rPr>
              <a:t>xx </a:t>
            </a:r>
            <a:r>
              <a:rPr lang="hi-IN" sz="2400" dirty="0">
                <a:latin typeface="Kokila" panose="020B0604020202020204" pitchFamily="34" charset="0"/>
                <a:cs typeface="Kokila" panose="020B0604020202020204" pitchFamily="34" charset="0"/>
              </a:rPr>
              <a:t>कोड उपयोगकर्ता की गलती और 5</a:t>
            </a:r>
            <a:r>
              <a:rPr lang="en-US" sz="2400" dirty="0">
                <a:latin typeface="Kokila" panose="020B0604020202020204" pitchFamily="34" charset="0"/>
                <a:cs typeface="Kokila" panose="020B0604020202020204" pitchFamily="34" charset="0"/>
              </a:rPr>
              <a:t>xx </a:t>
            </a:r>
            <a:r>
              <a:rPr lang="hi-IN" sz="2400" dirty="0">
                <a:latin typeface="Kokila" panose="020B0604020202020204" pitchFamily="34" charset="0"/>
                <a:cs typeface="Kokila" panose="020B0604020202020204" pitchFamily="34" charset="0"/>
              </a:rPr>
              <a:t>कोड सर्वर की समस्या बताते हैं। इससे प्रणाली समझने में आसान और व्यवस्थित बनती है।</a:t>
            </a:r>
            <a:endParaRPr lang="en-US" sz="2400" dirty="0">
              <a:latin typeface="Kokila" panose="020B0604020202020204" pitchFamily="34" charset="0"/>
              <a:cs typeface="Kokil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990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03212" y="304800"/>
            <a:ext cx="11569226" cy="6277245"/>
          </a:xfrm>
          <a:prstGeom prst="rect">
            <a:avLst/>
          </a:prstGeom>
          <a:noFill/>
          <a:ln w="19050"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4" name="AutoShape 2" descr="Generated image: Team collaboration in a bright offic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979612" y="2441609"/>
            <a:ext cx="8534400" cy="200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13800" b="1" dirty="0">
                <a:solidFill>
                  <a:schemeClr val="accent1">
                    <a:lumMod val="75000"/>
                  </a:schemeClr>
                </a:solidFill>
                <a:latin typeface="Comic Sans MS" panose="030F0702030302020204" pitchFamily="66" charset="0"/>
              </a:rPr>
              <a:t>T</a:t>
            </a:r>
            <a:r>
              <a:rPr lang="en-US" sz="13800" b="1" dirty="0">
                <a:solidFill>
                  <a:srgbClr val="FF4981"/>
                </a:solidFill>
                <a:latin typeface="Comic Sans MS" panose="030F0702030302020204" pitchFamily="66" charset="0"/>
              </a:rPr>
              <a:t>h</a:t>
            </a:r>
            <a:r>
              <a:rPr lang="en-US" sz="13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omic Sans MS" panose="030F0702030302020204" pitchFamily="66" charset="0"/>
              </a:rPr>
              <a:t>a</a:t>
            </a:r>
            <a:r>
              <a:rPr lang="en-US" sz="13800" b="1" dirty="0">
                <a:solidFill>
                  <a:srgbClr val="90CC0A"/>
                </a:solidFill>
                <a:latin typeface="Comic Sans MS" panose="030F0702030302020204" pitchFamily="66" charset="0"/>
              </a:rPr>
              <a:t>n</a:t>
            </a:r>
            <a:r>
              <a:rPr lang="en-US" sz="13800" b="1" dirty="0">
                <a:solidFill>
                  <a:srgbClr val="EA8016"/>
                </a:solidFill>
                <a:latin typeface="Comic Sans MS" panose="030F0702030302020204" pitchFamily="66" charset="0"/>
              </a:rPr>
              <a:t>k</a:t>
            </a:r>
            <a:r>
              <a:rPr lang="en-US" sz="13800" b="1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</a:rPr>
              <a:t>y</a:t>
            </a:r>
            <a:r>
              <a:rPr lang="en-US" sz="13800" b="1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</a:rPr>
              <a:t>o</a:t>
            </a:r>
            <a:r>
              <a:rPr lang="en-US" sz="13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9460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2233</TotalTime>
  <Words>476</Words>
  <Application>Microsoft Office PowerPoint</Application>
  <PresentationFormat>Custom</PresentationFormat>
  <Paragraphs>120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Comic Sans MS</vt:lpstr>
      <vt:lpstr>Corbel</vt:lpstr>
      <vt:lpstr>Gill Sans MT</vt:lpstr>
      <vt:lpstr>Kokila</vt:lpstr>
      <vt:lpstr>Gallery</vt:lpstr>
      <vt:lpstr>MCA  2024-26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पंचक्लेश  और उनका निवारण</dc:title>
  <dc:creator>Acharya</dc:creator>
  <cp:lastModifiedBy>Aswin Sahu</cp:lastModifiedBy>
  <cp:revision>113</cp:revision>
  <dcterms:created xsi:type="dcterms:W3CDTF">2026-04-16T07:23:52Z</dcterms:created>
  <dcterms:modified xsi:type="dcterms:W3CDTF">2026-04-29T07:55:37Z</dcterms:modified>
</cp:coreProperties>
</file>